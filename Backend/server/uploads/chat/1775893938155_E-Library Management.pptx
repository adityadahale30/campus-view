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Nanum Gothic Coding Bold" panose="020B0604020202020204" charset="-127"/>
      <p:regular r:id="rId8"/>
    </p:embeddedFont>
    <p:embeddedFont>
      <p:font typeface="Hacen Tunisia" panose="020B0604020202020204" charset="-78"/>
      <p:regular r:id="rId9"/>
    </p:embeddedFont>
    <p:embeddedFont>
      <p:font typeface="Nanum Gothic Coding" panose="020B0604020202020204" charset="-127"/>
      <p:regular r:id="rId10"/>
    </p:embeddedFont>
    <p:embeddedFont>
      <p:font typeface="Calibri" panose="020F0502020204030204" pitchFamily="34" charset="0"/>
      <p:regular r:id="rId11"/>
      <p:bold r:id="rId12"/>
      <p:italic r:id="rId13"/>
      <p:bold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1104" y="3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577307" y="1522520"/>
            <a:ext cx="5730286" cy="5658658"/>
          </a:xfrm>
          <a:custGeom>
            <a:avLst/>
            <a:gdLst/>
            <a:ahLst/>
            <a:cxnLst/>
            <a:rect l="l" t="t" r="r" b="b"/>
            <a:pathLst>
              <a:path w="5730286" h="5658658">
                <a:moveTo>
                  <a:pt x="0" y="0"/>
                </a:moveTo>
                <a:lnTo>
                  <a:pt x="5730286" y="0"/>
                </a:lnTo>
                <a:lnTo>
                  <a:pt x="5730286" y="5658658"/>
                </a:lnTo>
                <a:lnTo>
                  <a:pt x="0" y="5658658"/>
                </a:lnTo>
                <a:lnTo>
                  <a:pt x="0" y="0"/>
                </a:lnTo>
                <a:close/>
              </a:path>
            </a:pathLst>
          </a:custGeom>
          <a:blipFill>
            <a:blip r:embed="rId3"/>
            <a:stretch>
              <a:fillRect/>
            </a:stretch>
          </a:blipFill>
        </p:spPr>
      </p:sp>
      <p:sp>
        <p:nvSpPr>
          <p:cNvPr id="4" name="TextBox 4"/>
          <p:cNvSpPr txBox="1"/>
          <p:nvPr/>
        </p:nvSpPr>
        <p:spPr>
          <a:xfrm>
            <a:off x="6455498" y="2864640"/>
            <a:ext cx="10028609" cy="3087927"/>
          </a:xfrm>
          <a:prstGeom prst="rect">
            <a:avLst/>
          </a:prstGeom>
        </p:spPr>
        <p:txBody>
          <a:bodyPr lIns="0" tIns="0" rIns="0" bIns="0" rtlCol="0" anchor="t">
            <a:spAutoFit/>
          </a:bodyPr>
          <a:lstStyle/>
          <a:p>
            <a:pPr marL="0" lvl="0" indent="0" algn="l">
              <a:lnSpc>
                <a:spcPts val="11477"/>
              </a:lnSpc>
            </a:pPr>
            <a:r>
              <a:rPr lang="en-US" sz="13996" b="1">
                <a:solidFill>
                  <a:srgbClr val="0E5284"/>
                </a:solidFill>
                <a:latin typeface="Nanum Gothic Coding Bold"/>
                <a:ea typeface="Nanum Gothic Coding Bold"/>
                <a:cs typeface="Nanum Gothic Coding Bold"/>
                <a:sym typeface="Nanum Gothic Coding Bold"/>
              </a:rPr>
              <a:t>E-LIBRARY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228600" y="885528"/>
            <a:ext cx="10024805" cy="650745"/>
            <a:chOff x="0" y="0"/>
            <a:chExt cx="614174" cy="103284"/>
          </a:xfrm>
          <a:solidFill>
            <a:schemeClr val="tx2">
              <a:lumMod val="60000"/>
              <a:lumOff val="40000"/>
            </a:schemeClr>
          </a:solidFill>
        </p:grpSpPr>
        <p:sp>
          <p:nvSpPr>
            <p:cNvPr id="4" name="Freeform 4"/>
            <p:cNvSpPr/>
            <p:nvPr/>
          </p:nvSpPr>
          <p:spPr>
            <a:xfrm>
              <a:off x="0" y="0"/>
              <a:ext cx="614174" cy="103284"/>
            </a:xfrm>
            <a:custGeom>
              <a:avLst/>
              <a:gdLst/>
              <a:ahLst/>
              <a:cxnLst/>
              <a:rect l="l" t="t" r="r" b="b"/>
              <a:pathLst>
                <a:path w="614174" h="103284">
                  <a:moveTo>
                    <a:pt x="0" y="0"/>
                  </a:moveTo>
                  <a:lnTo>
                    <a:pt x="614174" y="0"/>
                  </a:lnTo>
                  <a:lnTo>
                    <a:pt x="614174" y="103284"/>
                  </a:lnTo>
                  <a:lnTo>
                    <a:pt x="0" y="103284"/>
                  </a:lnTo>
                  <a:close/>
                </a:path>
              </a:pathLst>
            </a:custGeom>
            <a:grpFill/>
          </p:spPr>
        </p:sp>
        <p:sp>
          <p:nvSpPr>
            <p:cNvPr id="5" name="TextBox 5"/>
            <p:cNvSpPr txBox="1"/>
            <p:nvPr/>
          </p:nvSpPr>
          <p:spPr>
            <a:xfrm>
              <a:off x="0" y="-76200"/>
              <a:ext cx="614174" cy="179484"/>
            </a:xfrm>
            <a:prstGeom prst="rect">
              <a:avLst/>
            </a:prstGeom>
            <a:grpFill/>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664502" y="3151241"/>
            <a:ext cx="742336" cy="925459"/>
          </a:xfrm>
          <a:custGeom>
            <a:avLst/>
            <a:gdLst/>
            <a:ahLst/>
            <a:cxnLst/>
            <a:rect l="l" t="t" r="r" b="b"/>
            <a:pathLst>
              <a:path w="742336" h="925459">
                <a:moveTo>
                  <a:pt x="0" y="0"/>
                </a:moveTo>
                <a:lnTo>
                  <a:pt x="742336" y="0"/>
                </a:lnTo>
                <a:lnTo>
                  <a:pt x="742336" y="925459"/>
                </a:lnTo>
                <a:lnTo>
                  <a:pt x="0" y="92545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685510" y="4914900"/>
            <a:ext cx="742336" cy="925459"/>
          </a:xfrm>
          <a:custGeom>
            <a:avLst/>
            <a:gdLst/>
            <a:ahLst/>
            <a:cxnLst/>
            <a:rect l="l" t="t" r="r" b="b"/>
            <a:pathLst>
              <a:path w="742336" h="925459">
                <a:moveTo>
                  <a:pt x="0" y="0"/>
                </a:moveTo>
                <a:lnTo>
                  <a:pt x="742336" y="0"/>
                </a:lnTo>
                <a:lnTo>
                  <a:pt x="742336" y="925459"/>
                </a:lnTo>
                <a:lnTo>
                  <a:pt x="0" y="92545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8" name="Freeform 8"/>
          <p:cNvSpPr/>
          <p:nvPr/>
        </p:nvSpPr>
        <p:spPr>
          <a:xfrm>
            <a:off x="685510" y="6591300"/>
            <a:ext cx="742336" cy="925459"/>
          </a:xfrm>
          <a:custGeom>
            <a:avLst/>
            <a:gdLst/>
            <a:ahLst/>
            <a:cxnLst/>
            <a:rect l="l" t="t" r="r" b="b"/>
            <a:pathLst>
              <a:path w="742336" h="925459">
                <a:moveTo>
                  <a:pt x="0" y="0"/>
                </a:moveTo>
                <a:lnTo>
                  <a:pt x="742336" y="0"/>
                </a:lnTo>
                <a:lnTo>
                  <a:pt x="742336" y="925459"/>
                </a:lnTo>
                <a:lnTo>
                  <a:pt x="0" y="92545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0" name="TextBox 10"/>
          <p:cNvSpPr txBox="1"/>
          <p:nvPr/>
        </p:nvSpPr>
        <p:spPr>
          <a:xfrm>
            <a:off x="465098" y="596862"/>
            <a:ext cx="8638421" cy="908710"/>
          </a:xfrm>
          <a:prstGeom prst="rect">
            <a:avLst/>
          </a:prstGeom>
        </p:spPr>
        <p:txBody>
          <a:bodyPr wrap="square" lIns="0" tIns="0" rIns="0" bIns="0" rtlCol="0" anchor="t">
            <a:spAutoFit/>
          </a:bodyPr>
          <a:lstStyle/>
          <a:p>
            <a:pPr marL="0" lvl="0" indent="0" algn="ctr">
              <a:lnSpc>
                <a:spcPts val="7037"/>
              </a:lnSpc>
            </a:pPr>
            <a:r>
              <a:rPr lang="en-US" sz="7649" dirty="0">
                <a:solidFill>
                  <a:schemeClr val="bg1"/>
                </a:solidFill>
                <a:latin typeface="Nanum Gothic Coding"/>
                <a:ea typeface="Nanum Gothic Coding"/>
                <a:cs typeface="Nanum Gothic Coding"/>
                <a:sym typeface="Nanum Gothic Coding"/>
              </a:rPr>
              <a:t>KEY FEATURES</a:t>
            </a:r>
          </a:p>
        </p:txBody>
      </p:sp>
      <p:sp>
        <p:nvSpPr>
          <p:cNvPr id="17" name="Freeform 8"/>
          <p:cNvSpPr/>
          <p:nvPr/>
        </p:nvSpPr>
        <p:spPr>
          <a:xfrm>
            <a:off x="685510" y="8460137"/>
            <a:ext cx="742336" cy="925459"/>
          </a:xfrm>
          <a:custGeom>
            <a:avLst/>
            <a:gdLst/>
            <a:ahLst/>
            <a:cxnLst/>
            <a:rect l="l" t="t" r="r" b="b"/>
            <a:pathLst>
              <a:path w="742336" h="925459">
                <a:moveTo>
                  <a:pt x="0" y="0"/>
                </a:moveTo>
                <a:lnTo>
                  <a:pt x="742336" y="0"/>
                </a:lnTo>
                <a:lnTo>
                  <a:pt x="742336" y="925459"/>
                </a:lnTo>
                <a:lnTo>
                  <a:pt x="0" y="92545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aphicFrame>
        <p:nvGraphicFramePr>
          <p:cNvPr id="18" name="Table 17"/>
          <p:cNvGraphicFramePr>
            <a:graphicFrameLocks noGrp="1"/>
          </p:cNvGraphicFramePr>
          <p:nvPr>
            <p:extLst>
              <p:ext uri="{D42A27DB-BD31-4B8C-83A1-F6EECF244321}">
                <p14:modId xmlns:p14="http://schemas.microsoft.com/office/powerpoint/2010/main" val="2905867305"/>
              </p:ext>
            </p:extLst>
          </p:nvPr>
        </p:nvGraphicFramePr>
        <p:xfrm>
          <a:off x="1828800" y="2857500"/>
          <a:ext cx="13634357" cy="1554480"/>
        </p:xfrm>
        <a:graphic>
          <a:graphicData uri="http://schemas.openxmlformats.org/drawingml/2006/table">
            <a:tbl>
              <a:tblPr firstRow="1" bandRow="1">
                <a:tableStyleId>{2D5ABB26-0587-4C30-8999-92F81FD0307C}</a:tableStyleId>
              </a:tblPr>
              <a:tblGrid>
                <a:gridCol w="13634357"/>
              </a:tblGrid>
              <a:tr h="1232158">
                <a:tc>
                  <a:txBody>
                    <a:bodyPr/>
                    <a:lstStyle/>
                    <a:p>
                      <a:r>
                        <a:rPr lang="en-US" sz="2400" b="1" dirty="0" smtClean="0">
                          <a:solidFill>
                            <a:schemeClr val="tx1"/>
                          </a:solidFill>
                        </a:rPr>
                        <a:t>Add Book : </a:t>
                      </a:r>
                      <a:r>
                        <a:rPr lang="en-US" sz="2400" dirty="0" smtClean="0">
                          <a:solidFill>
                            <a:schemeClr val="tx1"/>
                          </a:solidFill>
                        </a:rPr>
                        <a:t>This feature allows the registration of new books by entering the ID, title, author, and page count. It uses Material Design input fields to ensure all data is captured accurately before saving it to the database. This process creates a permanent record that makes the book immediately available in the digital library.</a:t>
                      </a:r>
                      <a:endParaRPr lang="en-US" sz="2400" b="0" dirty="0">
                        <a:solidFill>
                          <a:schemeClr val="tx1"/>
                        </a:solidFill>
                      </a:endParaRPr>
                    </a:p>
                  </a:txBody>
                  <a:tcP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815652117"/>
              </p:ext>
            </p:extLst>
          </p:nvPr>
        </p:nvGraphicFramePr>
        <p:xfrm>
          <a:off x="1981200" y="4762500"/>
          <a:ext cx="13634357" cy="1232158"/>
        </p:xfrm>
        <a:graphic>
          <a:graphicData uri="http://schemas.openxmlformats.org/drawingml/2006/table">
            <a:tbl>
              <a:tblPr firstRow="1" bandRow="1">
                <a:tableStyleId>{2D5ABB26-0587-4C30-8999-92F81FD0307C}</a:tableStyleId>
              </a:tblPr>
              <a:tblGrid>
                <a:gridCol w="13634357"/>
              </a:tblGrid>
              <a:tr h="1232158">
                <a:tc>
                  <a:txBody>
                    <a:bodyPr/>
                    <a:lstStyle/>
                    <a:p>
                      <a:r>
                        <a:rPr lang="en-US" sz="2400" b="1" dirty="0" smtClean="0">
                          <a:solidFill>
                            <a:schemeClr val="tx1"/>
                          </a:solidFill>
                        </a:rPr>
                        <a:t>Update Book : </a:t>
                      </a:r>
                      <a:r>
                        <a:rPr lang="en-US" sz="2400" dirty="0" smtClean="0">
                          <a:solidFill>
                            <a:schemeClr val="tx1"/>
                          </a:solidFill>
                        </a:rPr>
                        <a:t>The update function allows users to modify the details of any existing book by using its unique ID. It is used to correct errors in the title or author and to refresh page counts when necessary. This ensures the library database stays current and reflects the most accurate information available.</a:t>
                      </a:r>
                      <a:endParaRPr lang="en-US" sz="2400" b="0" dirty="0">
                        <a:solidFill>
                          <a:schemeClr val="tx1"/>
                        </a:solidFill>
                      </a:endParaRPr>
                    </a:p>
                  </a:txBody>
                  <a:tcPr/>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634137328"/>
              </p:ext>
            </p:extLst>
          </p:nvPr>
        </p:nvGraphicFramePr>
        <p:xfrm>
          <a:off x="1981200" y="6438900"/>
          <a:ext cx="13634357" cy="1554480"/>
        </p:xfrm>
        <a:graphic>
          <a:graphicData uri="http://schemas.openxmlformats.org/drawingml/2006/table">
            <a:tbl>
              <a:tblPr firstRow="1" bandRow="1">
                <a:tableStyleId>{2D5ABB26-0587-4C30-8999-92F81FD0307C}</a:tableStyleId>
              </a:tblPr>
              <a:tblGrid>
                <a:gridCol w="13634357"/>
              </a:tblGrid>
              <a:tr h="1232158">
                <a:tc>
                  <a:txBody>
                    <a:bodyPr/>
                    <a:lstStyle/>
                    <a:p>
                      <a:r>
                        <a:rPr lang="en-US" sz="2400" b="1" dirty="0" smtClean="0">
                          <a:solidFill>
                            <a:schemeClr val="tx1"/>
                          </a:solidFill>
                        </a:rPr>
                        <a:t>Delete Book : </a:t>
                      </a:r>
                      <a:r>
                        <a:rPr lang="en-US" sz="2400" dirty="0" smtClean="0">
                          <a:solidFill>
                            <a:schemeClr val="tx1"/>
                          </a:solidFill>
                        </a:rPr>
                        <a:t>This feature removes obsolete or unavailable books from the library collection to keep the database clean. The button is highlighted in red to warn the user that this action will permanently erase the record. By clearing old data, the system maintains high performance and an accurate inventory of current stock.</a:t>
                      </a:r>
                      <a:endParaRPr lang="en-US" sz="2400" b="0" dirty="0">
                        <a:solidFill>
                          <a:schemeClr val="tx1"/>
                        </a:solidFill>
                      </a:endParaRPr>
                    </a:p>
                  </a:txBody>
                  <a:tcPr/>
                </a:tc>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946445701"/>
              </p:ext>
            </p:extLst>
          </p:nvPr>
        </p:nvGraphicFramePr>
        <p:xfrm>
          <a:off x="1981200" y="8369042"/>
          <a:ext cx="13634357" cy="1554480"/>
        </p:xfrm>
        <a:graphic>
          <a:graphicData uri="http://schemas.openxmlformats.org/drawingml/2006/table">
            <a:tbl>
              <a:tblPr firstRow="1" bandRow="1">
                <a:tableStyleId>{2D5ABB26-0587-4C30-8999-92F81FD0307C}</a:tableStyleId>
              </a:tblPr>
              <a:tblGrid>
                <a:gridCol w="13634357"/>
              </a:tblGrid>
              <a:tr h="1232158">
                <a:tc>
                  <a:txBody>
                    <a:bodyPr/>
                    <a:lstStyle/>
                    <a:p>
                      <a:r>
                        <a:rPr lang="en-US" sz="2400" b="1" dirty="0" smtClean="0">
                          <a:solidFill>
                            <a:schemeClr val="tx1"/>
                          </a:solidFill>
                        </a:rPr>
                        <a:t>Search Book</a:t>
                      </a:r>
                      <a:r>
                        <a:rPr lang="en-US" sz="2400" b="1" baseline="0" dirty="0" smtClean="0">
                          <a:solidFill>
                            <a:schemeClr val="tx1"/>
                          </a:solidFill>
                        </a:rPr>
                        <a:t> :</a:t>
                      </a:r>
                      <a:r>
                        <a:rPr lang="en-US" sz="2400" dirty="0" smtClean="0">
                          <a:solidFill>
                            <a:schemeClr val="tx1"/>
                          </a:solidFill>
                        </a:rPr>
                        <a:t> The search tool provides instant retrieval of specific book details by querying the unique Book ID. It features a high-visibility teal interface designed to help users find information without manual browsing. This function enhances efficiency by fetching exact data from the database directly into the input fields.</a:t>
                      </a:r>
                      <a:endParaRPr lang="en-US" sz="2400" b="0" dirty="0">
                        <a:solidFill>
                          <a:schemeClr val="tx1"/>
                        </a:solidFill>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826161" y="1028700"/>
            <a:ext cx="14635679" cy="1553283"/>
            <a:chOff x="0" y="0"/>
            <a:chExt cx="896661" cy="95163"/>
          </a:xfrm>
        </p:grpSpPr>
        <p:sp>
          <p:nvSpPr>
            <p:cNvPr id="4" name="Freeform 4"/>
            <p:cNvSpPr/>
            <p:nvPr/>
          </p:nvSpPr>
          <p:spPr>
            <a:xfrm>
              <a:off x="0" y="0"/>
              <a:ext cx="896661" cy="95163"/>
            </a:xfrm>
            <a:custGeom>
              <a:avLst/>
              <a:gdLst/>
              <a:ahLst/>
              <a:cxnLst/>
              <a:rect l="l" t="t" r="r" b="b"/>
              <a:pathLst>
                <a:path w="896661" h="95163">
                  <a:moveTo>
                    <a:pt x="0" y="0"/>
                  </a:moveTo>
                  <a:lnTo>
                    <a:pt x="896661" y="0"/>
                  </a:lnTo>
                  <a:lnTo>
                    <a:pt x="896661" y="95163"/>
                  </a:lnTo>
                  <a:lnTo>
                    <a:pt x="0" y="95163"/>
                  </a:lnTo>
                  <a:close/>
                </a:path>
              </a:pathLst>
            </a:custGeom>
            <a:solidFill>
              <a:srgbClr val="0078C5"/>
            </a:solidFill>
          </p:spPr>
        </p:sp>
        <p:sp>
          <p:nvSpPr>
            <p:cNvPr id="5" name="TextBox 5"/>
            <p:cNvSpPr txBox="1"/>
            <p:nvPr/>
          </p:nvSpPr>
          <p:spPr>
            <a:xfrm>
              <a:off x="0" y="-76200"/>
              <a:ext cx="896661" cy="1713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3317254" y="2963294"/>
            <a:ext cx="1319728" cy="1318078"/>
          </a:xfrm>
          <a:custGeom>
            <a:avLst/>
            <a:gdLst/>
            <a:ahLst/>
            <a:cxnLst/>
            <a:rect l="l" t="t" r="r" b="b"/>
            <a:pathLst>
              <a:path w="1319728" h="1318078">
                <a:moveTo>
                  <a:pt x="0" y="0"/>
                </a:moveTo>
                <a:lnTo>
                  <a:pt x="1319729" y="0"/>
                </a:lnTo>
                <a:lnTo>
                  <a:pt x="1319729" y="1318079"/>
                </a:lnTo>
                <a:lnTo>
                  <a:pt x="0" y="1318079"/>
                </a:lnTo>
                <a:lnTo>
                  <a:pt x="0" y="0"/>
                </a:lnTo>
                <a:close/>
              </a:path>
            </a:pathLst>
          </a:custGeom>
          <a:blipFill>
            <a:blip r:embed="rId3"/>
            <a:stretch>
              <a:fillRect/>
            </a:stretch>
          </a:blipFill>
        </p:spPr>
      </p:sp>
      <p:sp>
        <p:nvSpPr>
          <p:cNvPr id="7" name="Freeform 7"/>
          <p:cNvSpPr/>
          <p:nvPr/>
        </p:nvSpPr>
        <p:spPr>
          <a:xfrm>
            <a:off x="8413943" y="2987786"/>
            <a:ext cx="1269765" cy="1267493"/>
          </a:xfrm>
          <a:custGeom>
            <a:avLst/>
            <a:gdLst/>
            <a:ahLst/>
            <a:cxnLst/>
            <a:rect l="l" t="t" r="r" b="b"/>
            <a:pathLst>
              <a:path w="1269765" h="1267493">
                <a:moveTo>
                  <a:pt x="0" y="0"/>
                </a:moveTo>
                <a:lnTo>
                  <a:pt x="1269765" y="0"/>
                </a:lnTo>
                <a:lnTo>
                  <a:pt x="1269765" y="1267493"/>
                </a:lnTo>
                <a:lnTo>
                  <a:pt x="0" y="1267493"/>
                </a:lnTo>
                <a:lnTo>
                  <a:pt x="0" y="0"/>
                </a:lnTo>
                <a:close/>
              </a:path>
            </a:pathLst>
          </a:custGeom>
          <a:blipFill>
            <a:blip r:embed="rId4"/>
            <a:stretch>
              <a:fillRect/>
            </a:stretch>
          </a:blipFill>
        </p:spPr>
      </p:sp>
      <p:sp>
        <p:nvSpPr>
          <p:cNvPr id="8" name="Freeform 8"/>
          <p:cNvSpPr/>
          <p:nvPr/>
        </p:nvSpPr>
        <p:spPr>
          <a:xfrm>
            <a:off x="13492097" y="3028017"/>
            <a:ext cx="1189278" cy="1186090"/>
          </a:xfrm>
          <a:custGeom>
            <a:avLst/>
            <a:gdLst/>
            <a:ahLst/>
            <a:cxnLst/>
            <a:rect l="l" t="t" r="r" b="b"/>
            <a:pathLst>
              <a:path w="1189278" h="1186090">
                <a:moveTo>
                  <a:pt x="0" y="0"/>
                </a:moveTo>
                <a:lnTo>
                  <a:pt x="1189278" y="0"/>
                </a:lnTo>
                <a:lnTo>
                  <a:pt x="1189278" y="1186090"/>
                </a:lnTo>
                <a:lnTo>
                  <a:pt x="0" y="1186090"/>
                </a:lnTo>
                <a:lnTo>
                  <a:pt x="0" y="0"/>
                </a:lnTo>
                <a:close/>
              </a:path>
            </a:pathLst>
          </a:custGeom>
          <a:blipFill>
            <a:blip r:embed="rId5"/>
            <a:stretch>
              <a:fillRect/>
            </a:stretch>
          </a:blipFill>
        </p:spPr>
      </p:sp>
      <p:sp>
        <p:nvSpPr>
          <p:cNvPr id="10" name="TextBox 10"/>
          <p:cNvSpPr txBox="1"/>
          <p:nvPr/>
        </p:nvSpPr>
        <p:spPr>
          <a:xfrm>
            <a:off x="1600201" y="4527292"/>
            <a:ext cx="4813892" cy="4937249"/>
          </a:xfrm>
          <a:prstGeom prst="rect">
            <a:avLst/>
          </a:prstGeom>
        </p:spPr>
        <p:txBody>
          <a:bodyPr wrap="square" lIns="0" tIns="0" rIns="0" bIns="0" rtlCol="0" anchor="t">
            <a:spAutoFit/>
          </a:bodyPr>
          <a:lstStyle/>
          <a:p>
            <a:pPr lvl="0" algn="just">
              <a:lnSpc>
                <a:spcPts val="3544"/>
              </a:lnSpc>
            </a:pPr>
            <a:r>
              <a:rPr lang="en-US" sz="2929" b="1" dirty="0">
                <a:solidFill>
                  <a:srgbClr val="000000"/>
                </a:solidFill>
                <a:latin typeface="Hacen Tunisia"/>
                <a:ea typeface="Hacen Tunisia"/>
                <a:cs typeface="Hacen Tunisia"/>
                <a:sym typeface="Hacen Tunisia"/>
              </a:rPr>
              <a:t>Data </a:t>
            </a:r>
            <a:r>
              <a:rPr lang="en-US" sz="2929" b="1" dirty="0" smtClean="0">
                <a:solidFill>
                  <a:srgbClr val="000000"/>
                </a:solidFill>
                <a:latin typeface="Hacen Tunisia"/>
                <a:ea typeface="Hacen Tunisia"/>
                <a:cs typeface="Hacen Tunisia"/>
                <a:sym typeface="Hacen Tunisia"/>
              </a:rPr>
              <a:t>Entry:</a:t>
            </a:r>
          </a:p>
          <a:p>
            <a:pPr lvl="0" algn="just">
              <a:lnSpc>
                <a:spcPts val="3544"/>
              </a:lnSpc>
            </a:pPr>
            <a:r>
              <a:rPr lang="en-US" sz="2600" dirty="0" smtClean="0">
                <a:solidFill>
                  <a:srgbClr val="000000"/>
                </a:solidFill>
                <a:latin typeface="Hacen Tunisia"/>
                <a:ea typeface="Hacen Tunisia"/>
                <a:cs typeface="Hacen Tunisia"/>
                <a:sym typeface="Hacen Tunisia"/>
              </a:rPr>
              <a:t>Input </a:t>
            </a:r>
            <a:r>
              <a:rPr lang="en-US" sz="2600" dirty="0">
                <a:solidFill>
                  <a:srgbClr val="000000"/>
                </a:solidFill>
                <a:latin typeface="Hacen Tunisia"/>
                <a:ea typeface="Hacen Tunisia"/>
                <a:cs typeface="Hacen Tunisia"/>
                <a:sym typeface="Hacen Tunisia"/>
              </a:rPr>
              <a:t>Book Details Enter the unique Book ID, Title, Author, and Page Count into the Material Design form fields. The system validates the information to ensure all required data is captured correctly before processing. This organized input structure forms the foundation of your digital library's searchable database records.</a:t>
            </a:r>
            <a:endParaRPr lang="en-US" sz="2600" dirty="0">
              <a:solidFill>
                <a:srgbClr val="000000"/>
              </a:solidFill>
              <a:latin typeface="Hacen Tunisia"/>
              <a:ea typeface="Hacen Tunisia"/>
              <a:cs typeface="Hacen Tunisia"/>
              <a:sym typeface="Hacen Tunisia"/>
            </a:endParaRPr>
          </a:p>
        </p:txBody>
      </p:sp>
      <p:sp>
        <p:nvSpPr>
          <p:cNvPr id="11" name="TextBox 11"/>
          <p:cNvSpPr txBox="1"/>
          <p:nvPr/>
        </p:nvSpPr>
        <p:spPr>
          <a:xfrm>
            <a:off x="2890203" y="1426356"/>
            <a:ext cx="12507593" cy="957805"/>
          </a:xfrm>
          <a:prstGeom prst="rect">
            <a:avLst/>
          </a:prstGeom>
        </p:spPr>
        <p:txBody>
          <a:bodyPr lIns="0" tIns="0" rIns="0" bIns="0" rtlCol="0" anchor="t">
            <a:spAutoFit/>
          </a:bodyPr>
          <a:lstStyle/>
          <a:p>
            <a:pPr marL="0" lvl="0" indent="0" algn="ctr">
              <a:lnSpc>
                <a:spcPts val="7037"/>
              </a:lnSpc>
            </a:pPr>
            <a:r>
              <a:rPr lang="en-US" sz="7649">
                <a:solidFill>
                  <a:srgbClr val="FFFFFF"/>
                </a:solidFill>
                <a:latin typeface="Nanum Gothic Coding"/>
                <a:ea typeface="Nanum Gothic Coding"/>
                <a:cs typeface="Nanum Gothic Coding"/>
                <a:sym typeface="Nanum Gothic Coding"/>
              </a:rPr>
              <a:t>HOW IT WORKS</a:t>
            </a:r>
          </a:p>
        </p:txBody>
      </p:sp>
      <p:sp>
        <p:nvSpPr>
          <p:cNvPr id="12" name="TextBox 12"/>
          <p:cNvSpPr txBox="1"/>
          <p:nvPr/>
        </p:nvSpPr>
        <p:spPr>
          <a:xfrm>
            <a:off x="6850034" y="4527292"/>
            <a:ext cx="4587931" cy="4937249"/>
          </a:xfrm>
          <a:prstGeom prst="rect">
            <a:avLst/>
          </a:prstGeom>
        </p:spPr>
        <p:txBody>
          <a:bodyPr lIns="0" tIns="0" rIns="0" bIns="0" rtlCol="0" anchor="t">
            <a:spAutoFit/>
          </a:bodyPr>
          <a:lstStyle/>
          <a:p>
            <a:pPr lvl="0" algn="just">
              <a:lnSpc>
                <a:spcPts val="3544"/>
              </a:lnSpc>
            </a:pPr>
            <a:r>
              <a:rPr lang="en-US" sz="2929" b="1" dirty="0">
                <a:solidFill>
                  <a:srgbClr val="000000"/>
                </a:solidFill>
                <a:latin typeface="Hacen Tunisia"/>
                <a:ea typeface="Hacen Tunisia"/>
                <a:cs typeface="Hacen Tunisia"/>
                <a:sym typeface="Hacen Tunisia"/>
              </a:rPr>
              <a:t>Database </a:t>
            </a:r>
            <a:r>
              <a:rPr lang="en-US" sz="2929" b="1" dirty="0" smtClean="0">
                <a:solidFill>
                  <a:srgbClr val="000000"/>
                </a:solidFill>
                <a:latin typeface="Hacen Tunisia"/>
                <a:ea typeface="Hacen Tunisia"/>
                <a:cs typeface="Hacen Tunisia"/>
                <a:sym typeface="Hacen Tunisia"/>
              </a:rPr>
              <a:t>Actions:</a:t>
            </a:r>
            <a:endParaRPr lang="en-US" sz="2929" b="1" dirty="0">
              <a:solidFill>
                <a:srgbClr val="000000"/>
              </a:solidFill>
              <a:latin typeface="Hacen Tunisia"/>
              <a:ea typeface="Hacen Tunisia"/>
              <a:cs typeface="Hacen Tunisia"/>
              <a:sym typeface="Hacen Tunisia"/>
            </a:endParaRPr>
          </a:p>
          <a:p>
            <a:pPr lvl="0" algn="just">
              <a:lnSpc>
                <a:spcPts val="3544"/>
              </a:lnSpc>
            </a:pPr>
            <a:r>
              <a:rPr lang="en-US" sz="2600" dirty="0">
                <a:solidFill>
                  <a:srgbClr val="000000"/>
                </a:solidFill>
                <a:latin typeface="Hacen Tunisia"/>
                <a:ea typeface="Hacen Tunisia"/>
                <a:cs typeface="Hacen Tunisia"/>
                <a:sym typeface="Hacen Tunisia"/>
              </a:rPr>
              <a:t>Manage Records Use the Add and Update buttons to save new books or modify existing information in the storage. The system uses the unique Book ID as a primary key to ensure no duplicate entries are created. Color-coded buttons for Delete and Search provide a clear visual guide for managing specific book data.</a:t>
            </a:r>
            <a:endParaRPr lang="en-US" sz="2600" dirty="0">
              <a:solidFill>
                <a:srgbClr val="000000"/>
              </a:solidFill>
              <a:latin typeface="Hacen Tunisia"/>
              <a:ea typeface="Hacen Tunisia"/>
              <a:cs typeface="Hacen Tunisia"/>
              <a:sym typeface="Hacen Tunisia"/>
            </a:endParaRPr>
          </a:p>
        </p:txBody>
      </p:sp>
      <p:sp>
        <p:nvSpPr>
          <p:cNvPr id="13" name="TextBox 13"/>
          <p:cNvSpPr txBox="1"/>
          <p:nvPr/>
        </p:nvSpPr>
        <p:spPr>
          <a:xfrm>
            <a:off x="11873908" y="4527292"/>
            <a:ext cx="4737692" cy="4937249"/>
          </a:xfrm>
          <a:prstGeom prst="rect">
            <a:avLst/>
          </a:prstGeom>
        </p:spPr>
        <p:txBody>
          <a:bodyPr wrap="square" lIns="0" tIns="0" rIns="0" bIns="0" rtlCol="0" anchor="t">
            <a:spAutoFit/>
          </a:bodyPr>
          <a:lstStyle/>
          <a:p>
            <a:pPr lvl="0" algn="just">
              <a:lnSpc>
                <a:spcPts val="3544"/>
              </a:lnSpc>
            </a:pPr>
            <a:r>
              <a:rPr lang="en-US" sz="2929" b="1" dirty="0">
                <a:solidFill>
                  <a:srgbClr val="000000"/>
                </a:solidFill>
                <a:latin typeface="Hacen Tunisia"/>
                <a:ea typeface="Hacen Tunisia"/>
                <a:cs typeface="Hacen Tunisia"/>
                <a:sym typeface="Hacen Tunisia"/>
              </a:rPr>
              <a:t>Retrieve &amp; </a:t>
            </a:r>
            <a:r>
              <a:rPr lang="en-US" sz="2929" b="1" dirty="0" smtClean="0">
                <a:solidFill>
                  <a:srgbClr val="000000"/>
                </a:solidFill>
                <a:latin typeface="Hacen Tunisia"/>
                <a:ea typeface="Hacen Tunisia"/>
                <a:cs typeface="Hacen Tunisia"/>
                <a:sym typeface="Hacen Tunisia"/>
              </a:rPr>
              <a:t>View:</a:t>
            </a:r>
            <a:endParaRPr lang="en-US" sz="2929" b="1" dirty="0">
              <a:solidFill>
                <a:srgbClr val="000000"/>
              </a:solidFill>
              <a:latin typeface="Hacen Tunisia"/>
              <a:ea typeface="Hacen Tunisia"/>
              <a:cs typeface="Hacen Tunisia"/>
              <a:sym typeface="Hacen Tunisia"/>
            </a:endParaRPr>
          </a:p>
          <a:p>
            <a:pPr lvl="0" algn="just">
              <a:lnSpc>
                <a:spcPts val="3544"/>
              </a:lnSpc>
            </a:pPr>
            <a:r>
              <a:rPr lang="en-US" sz="2600" dirty="0">
                <a:solidFill>
                  <a:srgbClr val="000000"/>
                </a:solidFill>
                <a:latin typeface="Hacen Tunisia"/>
                <a:ea typeface="Hacen Tunisia"/>
                <a:cs typeface="Hacen Tunisia"/>
                <a:sym typeface="Hacen Tunisia"/>
              </a:rPr>
              <a:t>Access Inventory Perform instant lookups using the Search feature to pull specific book details directly into the view. The View All Books function generates a complete list of every record currently stored in the system. This provides a comprehensive overview of the library, ensuring total transparency of the digital collection.</a:t>
            </a:r>
            <a:endParaRPr lang="en-US" sz="2600" dirty="0">
              <a:solidFill>
                <a:srgbClr val="000000"/>
              </a:solidFill>
              <a:latin typeface="Hacen Tunisia"/>
              <a:ea typeface="Hacen Tunisia"/>
              <a:cs typeface="Hacen Tunisia"/>
              <a:sym typeface="Hacen Tunis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826161" y="1028700"/>
            <a:ext cx="14635679" cy="1553283"/>
            <a:chOff x="0" y="0"/>
            <a:chExt cx="896661" cy="95163"/>
          </a:xfrm>
        </p:grpSpPr>
        <p:sp>
          <p:nvSpPr>
            <p:cNvPr id="4" name="Freeform 4"/>
            <p:cNvSpPr/>
            <p:nvPr/>
          </p:nvSpPr>
          <p:spPr>
            <a:xfrm>
              <a:off x="0" y="0"/>
              <a:ext cx="896661" cy="95163"/>
            </a:xfrm>
            <a:custGeom>
              <a:avLst/>
              <a:gdLst/>
              <a:ahLst/>
              <a:cxnLst/>
              <a:rect l="l" t="t" r="r" b="b"/>
              <a:pathLst>
                <a:path w="896661" h="95163">
                  <a:moveTo>
                    <a:pt x="0" y="0"/>
                  </a:moveTo>
                  <a:lnTo>
                    <a:pt x="896661" y="0"/>
                  </a:lnTo>
                  <a:lnTo>
                    <a:pt x="896661" y="95163"/>
                  </a:lnTo>
                  <a:lnTo>
                    <a:pt x="0" y="95163"/>
                  </a:lnTo>
                  <a:close/>
                </a:path>
              </a:pathLst>
            </a:custGeom>
            <a:solidFill>
              <a:srgbClr val="0078C5"/>
            </a:solidFill>
          </p:spPr>
        </p:sp>
        <p:sp>
          <p:nvSpPr>
            <p:cNvPr id="5" name="TextBox 5"/>
            <p:cNvSpPr txBox="1"/>
            <p:nvPr/>
          </p:nvSpPr>
          <p:spPr>
            <a:xfrm>
              <a:off x="0" y="-76200"/>
              <a:ext cx="896661" cy="1713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533400" y="3787758"/>
            <a:ext cx="6267245" cy="6419713"/>
          </a:xfrm>
          <a:custGeom>
            <a:avLst/>
            <a:gdLst/>
            <a:ahLst/>
            <a:cxnLst/>
            <a:rect l="l" t="t" r="r" b="b"/>
            <a:pathLst>
              <a:path w="6267245" h="6419713">
                <a:moveTo>
                  <a:pt x="0" y="0"/>
                </a:moveTo>
                <a:lnTo>
                  <a:pt x="6267245" y="0"/>
                </a:lnTo>
                <a:lnTo>
                  <a:pt x="6267245" y="6419713"/>
                </a:lnTo>
                <a:lnTo>
                  <a:pt x="0" y="6419713"/>
                </a:lnTo>
                <a:lnTo>
                  <a:pt x="0" y="0"/>
                </a:lnTo>
                <a:close/>
              </a:path>
            </a:pathLst>
          </a:custGeom>
          <a:blipFill>
            <a:blip r:embed="rId3"/>
            <a:stretch>
              <a:fillRect/>
            </a:stretch>
          </a:blipFill>
        </p:spPr>
      </p:sp>
      <p:grpSp>
        <p:nvGrpSpPr>
          <p:cNvPr id="7" name="Group 7"/>
          <p:cNvGrpSpPr/>
          <p:nvPr/>
        </p:nvGrpSpPr>
        <p:grpSpPr>
          <a:xfrm>
            <a:off x="4469552" y="4903971"/>
            <a:ext cx="226259" cy="308415"/>
            <a:chOff x="0" y="0"/>
            <a:chExt cx="596285" cy="812800"/>
          </a:xfrm>
        </p:grpSpPr>
        <p:sp>
          <p:nvSpPr>
            <p:cNvPr id="8" name="Freeform 8"/>
            <p:cNvSpPr/>
            <p:nvPr/>
          </p:nvSpPr>
          <p:spPr>
            <a:xfrm>
              <a:off x="0" y="0"/>
              <a:ext cx="596285" cy="812800"/>
            </a:xfrm>
            <a:custGeom>
              <a:avLst/>
              <a:gdLst/>
              <a:ahLst/>
              <a:cxnLst/>
              <a:rect l="l" t="t" r="r" b="b"/>
              <a:pathLst>
                <a:path w="596285" h="812800">
                  <a:moveTo>
                    <a:pt x="298142" y="0"/>
                  </a:moveTo>
                  <a:cubicBezTo>
                    <a:pt x="133483" y="0"/>
                    <a:pt x="0" y="181951"/>
                    <a:pt x="0" y="406400"/>
                  </a:cubicBezTo>
                  <a:cubicBezTo>
                    <a:pt x="0" y="630849"/>
                    <a:pt x="133483" y="812800"/>
                    <a:pt x="298142" y="812800"/>
                  </a:cubicBezTo>
                  <a:cubicBezTo>
                    <a:pt x="462802" y="812800"/>
                    <a:pt x="596285" y="630849"/>
                    <a:pt x="596285" y="406400"/>
                  </a:cubicBezTo>
                  <a:cubicBezTo>
                    <a:pt x="596285" y="181951"/>
                    <a:pt x="462802" y="0"/>
                    <a:pt x="298142" y="0"/>
                  </a:cubicBezTo>
                  <a:close/>
                </a:path>
              </a:pathLst>
            </a:custGeom>
            <a:solidFill>
              <a:srgbClr val="F6C1AE"/>
            </a:solidFill>
          </p:spPr>
        </p:sp>
        <p:sp>
          <p:nvSpPr>
            <p:cNvPr id="9" name="TextBox 9"/>
            <p:cNvSpPr txBox="1"/>
            <p:nvPr/>
          </p:nvSpPr>
          <p:spPr>
            <a:xfrm>
              <a:off x="55902" y="0"/>
              <a:ext cx="484481" cy="736600"/>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5129550" y="1378731"/>
            <a:ext cx="8028900" cy="740459"/>
          </a:xfrm>
          <a:prstGeom prst="rect">
            <a:avLst/>
          </a:prstGeom>
        </p:spPr>
        <p:txBody>
          <a:bodyPr lIns="0" tIns="0" rIns="0" bIns="0" rtlCol="0" anchor="t">
            <a:spAutoFit/>
          </a:bodyPr>
          <a:lstStyle/>
          <a:p>
            <a:pPr marL="0" lvl="0" indent="0" algn="ctr">
              <a:lnSpc>
                <a:spcPts val="5747"/>
              </a:lnSpc>
            </a:pPr>
            <a:r>
              <a:rPr lang="en-US" sz="6246" dirty="0" smtClean="0">
                <a:solidFill>
                  <a:srgbClr val="FFFFFF"/>
                </a:solidFill>
                <a:latin typeface="Nanum Gothic Coding"/>
                <a:ea typeface="Nanum Gothic Coding"/>
                <a:cs typeface="Nanum Gothic Coding"/>
                <a:sym typeface="Nanum Gothic Coding"/>
              </a:rPr>
              <a:t>TECHNICAL STACK</a:t>
            </a:r>
            <a:endParaRPr lang="en-US" sz="6246" dirty="0">
              <a:solidFill>
                <a:srgbClr val="FFFFFF"/>
              </a:solidFill>
              <a:latin typeface="Nanum Gothic Coding"/>
              <a:ea typeface="Nanum Gothic Coding"/>
              <a:cs typeface="Nanum Gothic Coding"/>
              <a:sym typeface="Nanum Gothic Coding"/>
            </a:endParaRPr>
          </a:p>
        </p:txBody>
      </p:sp>
      <p:graphicFrame>
        <p:nvGraphicFramePr>
          <p:cNvPr id="13" name="Table 12"/>
          <p:cNvGraphicFramePr>
            <a:graphicFrameLocks noGrp="1"/>
          </p:cNvGraphicFramePr>
          <p:nvPr>
            <p:extLst>
              <p:ext uri="{D42A27DB-BD31-4B8C-83A1-F6EECF244321}">
                <p14:modId xmlns:p14="http://schemas.microsoft.com/office/powerpoint/2010/main" val="1009786098"/>
              </p:ext>
            </p:extLst>
          </p:nvPr>
        </p:nvGraphicFramePr>
        <p:xfrm>
          <a:off x="7772400" y="3771900"/>
          <a:ext cx="8534400" cy="5022488"/>
        </p:xfrm>
        <a:graphic>
          <a:graphicData uri="http://schemas.openxmlformats.org/drawingml/2006/table">
            <a:tbl>
              <a:tblPr firstRow="1" bandRow="1">
                <a:tableStyleId>{2D5ABB26-0587-4C30-8999-92F81FD0307C}</a:tableStyleId>
              </a:tblPr>
              <a:tblGrid>
                <a:gridCol w="8534400"/>
              </a:tblGrid>
              <a:tr h="5022488">
                <a:tc>
                  <a:txBody>
                    <a:bodyPr/>
                    <a:lstStyle/>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Language: Java (Android)</a:t>
                      </a:r>
                    </a:p>
                    <a:p>
                      <a:pPr marL="0" indent="0">
                        <a:buFont typeface="Arial" panose="020B0604020202020204" pitchFamily="34" charset="0"/>
                        <a:buNone/>
                      </a:pPr>
                      <a:endParaRPr lang="en-US" sz="3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UI Framework: Google Material Design 1.13.0</a:t>
                      </a:r>
                    </a:p>
                    <a:p>
                      <a:pPr marL="0" indent="0">
                        <a:buFont typeface="Arial" panose="020B0604020202020204" pitchFamily="34" charset="0"/>
                        <a:buNone/>
                      </a:pPr>
                      <a:endParaRPr lang="en-US" sz="3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Layouts: </a:t>
                      </a:r>
                      <a:r>
                        <a:rPr lang="en-US" sz="3200" dirty="0" err="1" smtClean="0">
                          <a:latin typeface="Times New Roman" panose="02020603050405020304" pitchFamily="18" charset="0"/>
                          <a:cs typeface="Times New Roman" panose="02020603050405020304" pitchFamily="18" charset="0"/>
                        </a:rPr>
                        <a:t>LinearLayout</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GridLayout</a:t>
                      </a:r>
                      <a:r>
                        <a:rPr lang="en-US" sz="3200" dirty="0" smtClean="0">
                          <a:latin typeface="Times New Roman" panose="02020603050405020304" pitchFamily="18" charset="0"/>
                          <a:cs typeface="Times New Roman" panose="02020603050405020304" pitchFamily="18" charset="0"/>
                        </a:rPr>
                        <a:t>, </a:t>
                      </a:r>
                      <a:r>
                        <a:rPr lang="en-US" sz="3200" dirty="0" err="1" smtClean="0">
                          <a:latin typeface="Times New Roman" panose="02020603050405020304" pitchFamily="18" charset="0"/>
                          <a:cs typeface="Times New Roman" panose="02020603050405020304" pitchFamily="18" charset="0"/>
                        </a:rPr>
                        <a:t>ScrollView</a:t>
                      </a:r>
                      <a:endParaRPr lang="en-US" sz="3200"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Minimum Requirements: </a:t>
                      </a:r>
                      <a:r>
                        <a:rPr lang="en-US" sz="3200" dirty="0" err="1" smtClean="0">
                          <a:latin typeface="Times New Roman" panose="02020603050405020304" pitchFamily="18" charset="0"/>
                          <a:cs typeface="Times New Roman" panose="02020603050405020304" pitchFamily="18" charset="0"/>
                        </a:rPr>
                        <a:t>AppCompat</a:t>
                      </a:r>
                      <a:r>
                        <a:rPr lang="en-US" sz="3200" dirty="0" smtClean="0">
                          <a:latin typeface="Times New Roman" panose="02020603050405020304" pitchFamily="18" charset="0"/>
                          <a:cs typeface="Times New Roman" panose="02020603050405020304" pitchFamily="18" charset="0"/>
                        </a:rPr>
                        <a:t> 1.7.1, Activity 1.13.0</a:t>
                      </a:r>
                    </a:p>
                    <a:p>
                      <a:pPr marL="0" indent="0">
                        <a:buFont typeface="Arial" panose="020B0604020202020204" pitchFamily="34" charset="0"/>
                        <a:buNone/>
                      </a:pPr>
                      <a:endParaRPr lang="en-US" sz="3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Database: SQLite (for offline CRUD operations)</a:t>
                      </a:r>
                      <a:endParaRPr lang="en-US" sz="32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115101" y="1651545"/>
            <a:ext cx="8181300" cy="1434555"/>
            <a:chOff x="0" y="0"/>
            <a:chExt cx="425465" cy="103284"/>
          </a:xfrm>
        </p:grpSpPr>
        <p:sp>
          <p:nvSpPr>
            <p:cNvPr id="4" name="Freeform 4"/>
            <p:cNvSpPr/>
            <p:nvPr/>
          </p:nvSpPr>
          <p:spPr>
            <a:xfrm>
              <a:off x="0" y="0"/>
              <a:ext cx="425465" cy="103284"/>
            </a:xfrm>
            <a:custGeom>
              <a:avLst/>
              <a:gdLst/>
              <a:ahLst/>
              <a:cxnLst/>
              <a:rect l="l" t="t" r="r" b="b"/>
              <a:pathLst>
                <a:path w="425465" h="103284">
                  <a:moveTo>
                    <a:pt x="0" y="0"/>
                  </a:moveTo>
                  <a:lnTo>
                    <a:pt x="425465" y="0"/>
                  </a:lnTo>
                  <a:lnTo>
                    <a:pt x="425465" y="103284"/>
                  </a:lnTo>
                  <a:lnTo>
                    <a:pt x="0" y="103284"/>
                  </a:lnTo>
                  <a:close/>
                </a:path>
              </a:pathLst>
            </a:custGeom>
            <a:solidFill>
              <a:srgbClr val="FFFFFF"/>
            </a:solidFill>
          </p:spPr>
        </p:sp>
        <p:sp>
          <p:nvSpPr>
            <p:cNvPr id="5" name="TextBox 5"/>
            <p:cNvSpPr txBox="1"/>
            <p:nvPr/>
          </p:nvSpPr>
          <p:spPr>
            <a:xfrm>
              <a:off x="0" y="-76200"/>
              <a:ext cx="425465" cy="1794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657243" y="4210799"/>
            <a:ext cx="6944615" cy="4522753"/>
            <a:chOff x="0" y="0"/>
            <a:chExt cx="425465" cy="277088"/>
          </a:xfrm>
        </p:grpSpPr>
        <p:sp>
          <p:nvSpPr>
            <p:cNvPr id="7" name="Freeform 7"/>
            <p:cNvSpPr/>
            <p:nvPr/>
          </p:nvSpPr>
          <p:spPr>
            <a:xfrm>
              <a:off x="0" y="0"/>
              <a:ext cx="425465" cy="277088"/>
            </a:xfrm>
            <a:custGeom>
              <a:avLst/>
              <a:gdLst/>
              <a:ahLst/>
              <a:cxnLst/>
              <a:rect l="l" t="t" r="r" b="b"/>
              <a:pathLst>
                <a:path w="425465" h="277088">
                  <a:moveTo>
                    <a:pt x="0" y="0"/>
                  </a:moveTo>
                  <a:lnTo>
                    <a:pt x="425465" y="0"/>
                  </a:lnTo>
                  <a:lnTo>
                    <a:pt x="425465" y="277088"/>
                  </a:lnTo>
                  <a:lnTo>
                    <a:pt x="0" y="277088"/>
                  </a:lnTo>
                  <a:close/>
                </a:path>
              </a:pathLst>
            </a:custGeom>
            <a:solidFill>
              <a:srgbClr val="0078C5"/>
            </a:solidFill>
            <a:ln w="38100" cap="sq">
              <a:solidFill>
                <a:srgbClr val="FFFFFF"/>
              </a:solidFill>
              <a:prstDash val="solid"/>
              <a:miter/>
            </a:ln>
          </p:spPr>
        </p:sp>
        <p:sp>
          <p:nvSpPr>
            <p:cNvPr id="8" name="TextBox 8"/>
            <p:cNvSpPr txBox="1"/>
            <p:nvPr/>
          </p:nvSpPr>
          <p:spPr>
            <a:xfrm>
              <a:off x="0" y="-76200"/>
              <a:ext cx="425465" cy="35328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9144000" y="4210799"/>
            <a:ext cx="6944615" cy="4522753"/>
            <a:chOff x="0" y="0"/>
            <a:chExt cx="425465" cy="277088"/>
          </a:xfrm>
        </p:grpSpPr>
        <p:sp>
          <p:nvSpPr>
            <p:cNvPr id="10" name="Freeform 10"/>
            <p:cNvSpPr/>
            <p:nvPr/>
          </p:nvSpPr>
          <p:spPr>
            <a:xfrm>
              <a:off x="0" y="0"/>
              <a:ext cx="425465" cy="277088"/>
            </a:xfrm>
            <a:custGeom>
              <a:avLst/>
              <a:gdLst/>
              <a:ahLst/>
              <a:cxnLst/>
              <a:rect l="l" t="t" r="r" b="b"/>
              <a:pathLst>
                <a:path w="425465" h="277088">
                  <a:moveTo>
                    <a:pt x="0" y="0"/>
                  </a:moveTo>
                  <a:lnTo>
                    <a:pt x="425465" y="0"/>
                  </a:lnTo>
                  <a:lnTo>
                    <a:pt x="425465" y="277088"/>
                  </a:lnTo>
                  <a:lnTo>
                    <a:pt x="0" y="277088"/>
                  </a:lnTo>
                  <a:close/>
                </a:path>
              </a:pathLst>
            </a:custGeom>
            <a:solidFill>
              <a:srgbClr val="0078C5"/>
            </a:solidFill>
            <a:ln w="38100" cap="sq">
              <a:solidFill>
                <a:srgbClr val="FFFFFF"/>
              </a:solidFill>
              <a:prstDash val="solid"/>
              <a:miter/>
            </a:ln>
          </p:spPr>
        </p:sp>
        <p:sp>
          <p:nvSpPr>
            <p:cNvPr id="11" name="TextBox 11"/>
            <p:cNvSpPr txBox="1"/>
            <p:nvPr/>
          </p:nvSpPr>
          <p:spPr>
            <a:xfrm>
              <a:off x="0" y="-76200"/>
              <a:ext cx="425465" cy="35328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Freeform 12"/>
          <p:cNvSpPr/>
          <p:nvPr/>
        </p:nvSpPr>
        <p:spPr>
          <a:xfrm>
            <a:off x="8911438" y="2525007"/>
            <a:ext cx="1146185" cy="216342"/>
          </a:xfrm>
          <a:custGeom>
            <a:avLst/>
            <a:gdLst/>
            <a:ahLst/>
            <a:cxnLst/>
            <a:rect l="l" t="t" r="r" b="b"/>
            <a:pathLst>
              <a:path w="1146185" h="216342">
                <a:moveTo>
                  <a:pt x="0" y="0"/>
                </a:moveTo>
                <a:lnTo>
                  <a:pt x="1146186" y="0"/>
                </a:lnTo>
                <a:lnTo>
                  <a:pt x="1146186" y="216342"/>
                </a:lnTo>
                <a:lnTo>
                  <a:pt x="0" y="216342"/>
                </a:lnTo>
                <a:lnTo>
                  <a:pt x="0" y="0"/>
                </a:lnTo>
                <a:close/>
              </a:path>
            </a:pathLst>
          </a:custGeom>
          <a:blipFill>
            <a:blip r:embed="rId3"/>
            <a:stretch>
              <a:fillRect/>
            </a:stretch>
          </a:blipFill>
        </p:spPr>
      </p:sp>
      <p:sp>
        <p:nvSpPr>
          <p:cNvPr id="13" name="TextBox 13"/>
          <p:cNvSpPr txBox="1"/>
          <p:nvPr/>
        </p:nvSpPr>
        <p:spPr>
          <a:xfrm>
            <a:off x="1115100" y="2067858"/>
            <a:ext cx="8028900" cy="793638"/>
          </a:xfrm>
          <a:prstGeom prst="rect">
            <a:avLst/>
          </a:prstGeom>
        </p:spPr>
        <p:txBody>
          <a:bodyPr lIns="0" tIns="0" rIns="0" bIns="0" rtlCol="0" anchor="t">
            <a:spAutoFit/>
          </a:bodyPr>
          <a:lstStyle/>
          <a:p>
            <a:pPr marL="0" lvl="0" indent="0" algn="ctr">
              <a:lnSpc>
                <a:spcPts val="5747"/>
              </a:lnSpc>
            </a:pPr>
            <a:r>
              <a:rPr lang="en-US" sz="6246">
                <a:solidFill>
                  <a:srgbClr val="0A4570"/>
                </a:solidFill>
                <a:latin typeface="Nanum Gothic Coding"/>
                <a:ea typeface="Nanum Gothic Coding"/>
                <a:cs typeface="Nanum Gothic Coding"/>
                <a:sym typeface="Nanum Gothic Coding"/>
              </a:rPr>
              <a:t>E-LIBRARY MANAGEMENT</a:t>
            </a:r>
          </a:p>
        </p:txBody>
      </p:sp>
      <p:sp>
        <p:nvSpPr>
          <p:cNvPr id="14" name="TextBox 14"/>
          <p:cNvSpPr txBox="1"/>
          <p:nvPr/>
        </p:nvSpPr>
        <p:spPr>
          <a:xfrm>
            <a:off x="1891050" y="4402164"/>
            <a:ext cx="6477000" cy="4372992"/>
          </a:xfrm>
          <a:prstGeom prst="rect">
            <a:avLst/>
          </a:prstGeom>
        </p:spPr>
        <p:txBody>
          <a:bodyPr wrap="square" lIns="0" tIns="0" rIns="0" bIns="0" rtlCol="0" anchor="t">
            <a:spAutoFit/>
          </a:bodyPr>
          <a:lstStyle/>
          <a:p>
            <a:pPr marL="0" lvl="0" indent="0" algn="just">
              <a:lnSpc>
                <a:spcPts val="3114"/>
              </a:lnSpc>
            </a:pPr>
            <a:r>
              <a:rPr lang="en-US" sz="2574" b="1" dirty="0">
                <a:solidFill>
                  <a:srgbClr val="FFFFFF"/>
                </a:solidFill>
                <a:latin typeface="Hacen Tunisia"/>
                <a:ea typeface="Hacen Tunisia"/>
                <a:cs typeface="Hacen Tunisia"/>
                <a:sym typeface="Hacen Tunisia"/>
              </a:rPr>
              <a:t>Traditional Library</a:t>
            </a:r>
          </a:p>
          <a:p>
            <a:pPr lvl="0" algn="just">
              <a:lnSpc>
                <a:spcPts val="3114"/>
              </a:lnSpc>
            </a:pPr>
            <a:r>
              <a:rPr lang="en-US" sz="2574" dirty="0">
                <a:solidFill>
                  <a:srgbClr val="FFFFFF"/>
                </a:solidFill>
                <a:latin typeface="Hacen Tunisia"/>
                <a:ea typeface="Hacen Tunisia"/>
                <a:cs typeface="Hacen Tunisia"/>
                <a:sym typeface="Hacen Tunisia"/>
              </a:rPr>
              <a:t>Uses physical registers and handwritten logs to maintain book records, which are prone to human error, handwriting illegibility, and physical wear over time. Finding a specific book requires manual searching through paper files or shelves, making the retrieval process incredibly slow and inefficient for the librarian. Records are difficult to modify once written and can be permanently lost due to misplacement, fire, or water damage, leading to an unreliable inventory.</a:t>
            </a:r>
            <a:endParaRPr lang="en-US" sz="2574" dirty="0">
              <a:solidFill>
                <a:srgbClr val="FFFFFF"/>
              </a:solidFill>
              <a:latin typeface="Hacen Tunisia"/>
              <a:ea typeface="Hacen Tunisia"/>
              <a:cs typeface="Hacen Tunisia"/>
              <a:sym typeface="Hacen Tunisia"/>
            </a:endParaRPr>
          </a:p>
        </p:txBody>
      </p:sp>
      <p:sp>
        <p:nvSpPr>
          <p:cNvPr id="15" name="TextBox 15"/>
          <p:cNvSpPr txBox="1"/>
          <p:nvPr/>
        </p:nvSpPr>
        <p:spPr>
          <a:xfrm>
            <a:off x="9296400" y="4402164"/>
            <a:ext cx="6629400" cy="4372992"/>
          </a:xfrm>
          <a:prstGeom prst="rect">
            <a:avLst/>
          </a:prstGeom>
        </p:spPr>
        <p:txBody>
          <a:bodyPr wrap="square" lIns="0" tIns="0" rIns="0" bIns="0" rtlCol="0" anchor="t">
            <a:spAutoFit/>
          </a:bodyPr>
          <a:lstStyle/>
          <a:p>
            <a:pPr marL="0" lvl="0" indent="0" algn="just">
              <a:lnSpc>
                <a:spcPts val="3114"/>
              </a:lnSpc>
            </a:pPr>
            <a:r>
              <a:rPr lang="en-US" sz="2574" b="1" dirty="0">
                <a:solidFill>
                  <a:srgbClr val="FFFFFF"/>
                </a:solidFill>
                <a:latin typeface="Hacen Tunisia"/>
                <a:ea typeface="Hacen Tunisia"/>
                <a:cs typeface="Hacen Tunisia"/>
                <a:sym typeface="Hacen Tunisia"/>
              </a:rPr>
              <a:t>E-Library System</a:t>
            </a:r>
          </a:p>
          <a:p>
            <a:pPr lvl="0" algn="just">
              <a:lnSpc>
                <a:spcPts val="3114"/>
              </a:lnSpc>
            </a:pPr>
            <a:r>
              <a:rPr lang="en-US" sz="2574" dirty="0">
                <a:solidFill>
                  <a:srgbClr val="FFFFFF"/>
                </a:solidFill>
                <a:latin typeface="Hacen Tunisia"/>
                <a:ea typeface="Hacen Tunisia"/>
                <a:cs typeface="Hacen Tunisia"/>
                <a:sym typeface="Hacen Tunisia"/>
              </a:rPr>
              <a:t>Provides a modern digital interface to Add, Update, and View book records instantly using a secure SQLite database and professional Material Design components. Features a high-speed Search function that allows users to retrieve specific book details in seconds simply by entering a unique Book ID into the system. Ensures data integrity through organized input fields and color-coded actions, allowing for easy management and a clutter-free environment on any Android device.</a:t>
            </a:r>
            <a:endParaRPr lang="en-US" sz="2574" dirty="0">
              <a:solidFill>
                <a:srgbClr val="FFFFFF"/>
              </a:solidFill>
              <a:latin typeface="Hacen Tunisia"/>
              <a:ea typeface="Hacen Tunisia"/>
              <a:cs typeface="Hacen Tunisia"/>
              <a:sym typeface="Hacen Tunis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1105077" y="1817203"/>
            <a:ext cx="5924798" cy="5858144"/>
          </a:xfrm>
          <a:custGeom>
            <a:avLst/>
            <a:gdLst/>
            <a:ahLst/>
            <a:cxnLst/>
            <a:rect l="l" t="t" r="r" b="b"/>
            <a:pathLst>
              <a:path w="5924798" h="5858144">
                <a:moveTo>
                  <a:pt x="0" y="0"/>
                </a:moveTo>
                <a:lnTo>
                  <a:pt x="5924798" y="0"/>
                </a:lnTo>
                <a:lnTo>
                  <a:pt x="5924798" y="5858144"/>
                </a:lnTo>
                <a:lnTo>
                  <a:pt x="0" y="5858144"/>
                </a:lnTo>
                <a:lnTo>
                  <a:pt x="0" y="0"/>
                </a:lnTo>
                <a:close/>
              </a:path>
            </a:pathLst>
          </a:custGeom>
          <a:blipFill>
            <a:blip r:embed="rId3"/>
            <a:stretch>
              <a:fillRect/>
            </a:stretch>
          </a:blipFill>
        </p:spPr>
      </p:sp>
      <p:sp>
        <p:nvSpPr>
          <p:cNvPr id="4" name="TextBox 4"/>
          <p:cNvSpPr txBox="1"/>
          <p:nvPr/>
        </p:nvSpPr>
        <p:spPr>
          <a:xfrm>
            <a:off x="2236121" y="3857696"/>
            <a:ext cx="11256795" cy="1777159"/>
          </a:xfrm>
          <a:prstGeom prst="rect">
            <a:avLst/>
          </a:prstGeom>
        </p:spPr>
        <p:txBody>
          <a:bodyPr lIns="0" tIns="0" rIns="0" bIns="0" rtlCol="0" anchor="t">
            <a:spAutoFit/>
          </a:bodyPr>
          <a:lstStyle/>
          <a:p>
            <a:pPr marL="0" lvl="0" indent="0" algn="l">
              <a:lnSpc>
                <a:spcPts val="13005"/>
              </a:lnSpc>
            </a:pPr>
            <a:r>
              <a:rPr lang="en-US" sz="14136">
                <a:solidFill>
                  <a:srgbClr val="0E5284"/>
                </a:solidFill>
                <a:latin typeface="Nanum Gothic Coding"/>
                <a:ea typeface="Nanum Gothic Coding"/>
                <a:cs typeface="Nanum Gothic Coding"/>
                <a:sym typeface="Nanum Gothic Coding"/>
              </a:rPr>
              <a:t>THANK YOU!</a:t>
            </a:r>
          </a:p>
        </p:txBody>
      </p:sp>
      <p:grpSp>
        <p:nvGrpSpPr>
          <p:cNvPr id="5" name="Group 5"/>
          <p:cNvGrpSpPr/>
          <p:nvPr/>
        </p:nvGrpSpPr>
        <p:grpSpPr>
          <a:xfrm>
            <a:off x="2236120" y="5635210"/>
            <a:ext cx="8660479" cy="1641890"/>
            <a:chOff x="0" y="0"/>
            <a:chExt cx="685317" cy="95163"/>
          </a:xfrm>
        </p:grpSpPr>
        <p:sp>
          <p:nvSpPr>
            <p:cNvPr id="6" name="Freeform 6"/>
            <p:cNvSpPr/>
            <p:nvPr/>
          </p:nvSpPr>
          <p:spPr>
            <a:xfrm>
              <a:off x="0" y="0"/>
              <a:ext cx="685317" cy="95163"/>
            </a:xfrm>
            <a:custGeom>
              <a:avLst/>
              <a:gdLst/>
              <a:ahLst/>
              <a:cxnLst/>
              <a:rect l="l" t="t" r="r" b="b"/>
              <a:pathLst>
                <a:path w="685317" h="95163">
                  <a:moveTo>
                    <a:pt x="0" y="0"/>
                  </a:moveTo>
                  <a:lnTo>
                    <a:pt x="685317" y="0"/>
                  </a:lnTo>
                  <a:lnTo>
                    <a:pt x="685317" y="95163"/>
                  </a:lnTo>
                  <a:lnTo>
                    <a:pt x="0" y="95163"/>
                  </a:lnTo>
                  <a:close/>
                </a:path>
              </a:pathLst>
            </a:custGeom>
            <a:solidFill>
              <a:srgbClr val="0078C5"/>
            </a:solidFill>
          </p:spPr>
        </p:sp>
        <p:sp>
          <p:nvSpPr>
            <p:cNvPr id="7" name="TextBox 7"/>
            <p:cNvSpPr txBox="1"/>
            <p:nvPr/>
          </p:nvSpPr>
          <p:spPr>
            <a:xfrm>
              <a:off x="0" y="-76200"/>
              <a:ext cx="685317" cy="1713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8"/>
          <p:cNvSpPr txBox="1"/>
          <p:nvPr/>
        </p:nvSpPr>
        <p:spPr>
          <a:xfrm>
            <a:off x="2756268" y="5862667"/>
            <a:ext cx="9403190" cy="557201"/>
          </a:xfrm>
          <a:prstGeom prst="rect">
            <a:avLst/>
          </a:prstGeom>
        </p:spPr>
        <p:txBody>
          <a:bodyPr lIns="0" tIns="0" rIns="0" bIns="0" rtlCol="0" anchor="t">
            <a:spAutoFit/>
          </a:bodyPr>
          <a:lstStyle/>
          <a:p>
            <a:pPr marL="0" lvl="0" indent="0" algn="l">
              <a:lnSpc>
                <a:spcPts val="4213"/>
              </a:lnSpc>
            </a:pPr>
            <a:r>
              <a:rPr lang="en-US" sz="3795" dirty="0">
                <a:solidFill>
                  <a:srgbClr val="FFFFFF"/>
                </a:solidFill>
                <a:latin typeface="Nanum Gothic Coding"/>
                <a:ea typeface="Nanum Gothic Coding"/>
                <a:cs typeface="Nanum Gothic Coding"/>
                <a:sym typeface="Nanum Gothic Coding"/>
              </a:rPr>
              <a:t>Transform your library experience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617</Words>
  <Application>Microsoft Office PowerPoint</Application>
  <PresentationFormat>Custom</PresentationFormat>
  <Paragraphs>30</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Nanum Gothic Coding Bold</vt:lpstr>
      <vt:lpstr>Times New Roman</vt:lpstr>
      <vt:lpstr>Arial</vt:lpstr>
      <vt:lpstr>Hacen Tunisia</vt:lpstr>
      <vt:lpstr>Nanum Gothic Coding</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durgesh rathod</dc:creator>
  <cp:lastModifiedBy>durgesh rathod</cp:lastModifiedBy>
  <cp:revision>7</cp:revision>
  <dcterms:created xsi:type="dcterms:W3CDTF">2006-08-16T00:00:00Z</dcterms:created>
  <dcterms:modified xsi:type="dcterms:W3CDTF">2026-04-06T08:16:15Z</dcterms:modified>
  <dc:identifier>DAHGD0-qkIM</dc:identifier>
</cp:coreProperties>
</file>